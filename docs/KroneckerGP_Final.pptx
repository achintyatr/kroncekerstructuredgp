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1" d="100"/>
          <a:sy n="71" d="100"/>
        </p:scale>
        <p:origin x="67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</a:rPr>
              <a:t>Inducing Points (m) vs R²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R²</c:v>
                </c:pt>
              </c:strCache>
            </c:strRef>
          </c:tx>
          <c:spPr>
            <a:solidFill>
              <a:srgbClr val="AE1D49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22222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m=4</c:v>
                </c:pt>
                <c:pt idx="1">
                  <c:v>m=5</c:v>
                </c:pt>
                <c:pt idx="2">
                  <c:v>m=6</c:v>
                </c:pt>
                <c:pt idx="3">
                  <c:v>m=7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0.57999999999999996</c:v>
                </c:pt>
                <c:pt idx="1">
                  <c:v>0.63</c:v>
                </c:pt>
                <c:pt idx="2">
                  <c:v>0.66</c:v>
                </c:pt>
                <c:pt idx="3">
                  <c:v>0.66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C4D-4238-A98F-F6B316DF961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7"/>
          <c:min val="0.5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</a:rPr>
              <a:t>Kernel Length Scale (ℓ) vs R²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R²</c:v>
                </c:pt>
              </c:strCache>
            </c:strRef>
          </c:tx>
          <c:spPr>
            <a:ln w="38100" cap="flat">
              <a:solidFill>
                <a:srgbClr val="AE1D49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AE1D49"/>
              </a:solidFill>
              <a:ln w="9525" cap="flat">
                <a:solidFill>
                  <a:srgbClr val="AE1D49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0.5</c:v>
                </c:pt>
                <c:pt idx="1">
                  <c:v>0.8</c:v>
                </c:pt>
                <c:pt idx="2">
                  <c:v>1.0</c:v>
                </c:pt>
                <c:pt idx="3">
                  <c:v>1.2</c:v>
                </c:pt>
                <c:pt idx="4">
                  <c:v>1.5</c:v>
                </c:pt>
                <c:pt idx="5">
                  <c:v>2.0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0.52</c:v>
                </c:pt>
                <c:pt idx="1">
                  <c:v>0.6</c:v>
                </c:pt>
                <c:pt idx="2">
                  <c:v>0.63</c:v>
                </c:pt>
                <c:pt idx="3">
                  <c:v>0.66</c:v>
                </c:pt>
                <c:pt idx="4">
                  <c:v>0.61</c:v>
                </c:pt>
                <c:pt idx="5">
                  <c:v>0.55000000000000004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69D8-411D-970B-A8D74837EA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7"/>
          <c:min val="0.5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97761A-ECC0-476D-BF64-8C530B9222E0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D200E8-525F-4EB0-B21D-4D19860F31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87833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C7A30-4191-41D0-B87B-7850540E8798}" type="datetime1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ICEFCN-2026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B1682-F003-49EF-A65C-DF9FDB72AF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9077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F0CB6-BAE3-4DCF-9474-D87EC419BAF7}" type="datetime1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ICEFCN-2026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B1682-F003-49EF-A65C-DF9FDB72AF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99266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5C51E-C695-4F6D-AE9A-A73CE3AE3D14}" type="datetime1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ICEFCN-2026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B1682-F003-49EF-A65C-DF9FDB72AF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42927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90F3A-CD28-433C-9083-62148DCFFBD9}" type="datetime1">
              <a:rPr lang="en-IN" smtClean="0"/>
              <a:t>06-04-2026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ICEFCN-2026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B1682-F003-49EF-A65C-DF9FDB72AF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41114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7F20E-1AA9-4F0A-B29E-8FE27599B792}" type="datetime1">
              <a:rPr lang="en-IN" smtClean="0"/>
              <a:t>06-04-2026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ICEFCN-2026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B1682-F003-49EF-A65C-DF9FDB72AF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66934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CE270-5F8D-4940-A9CE-A73DCE203DA7}" type="datetime1">
              <a:rPr lang="en-IN" smtClean="0"/>
              <a:t>06-04-2026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ICEFCN-2026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B1682-F003-49EF-A65C-DF9FDB72AF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71043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95788-D030-4428-9D4B-FA79B10190BB}" type="datetime1">
              <a:rPr lang="en-IN" smtClean="0"/>
              <a:t>06-04-2026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ICEFCN-2026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B1682-F003-49EF-A65C-DF9FDB72AF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44817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18D3C-BBAD-4611-9FDD-5F76F23D3679}" type="datetime1">
              <a:rPr lang="en-IN" smtClean="0"/>
              <a:t>06-04-2026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ICEFCN-2026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B1682-F003-49EF-A65C-DF9FDB72AF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3164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12D59-F3B1-4595-8CD3-41AD40341CFF}" type="datetime1">
              <a:rPr lang="en-IN" smtClean="0"/>
              <a:t>06-04-2026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ICEFCN-2026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B1682-F003-49EF-A65C-DF9FDB72AF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62661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ED30F-C14B-4E06-B2B3-504ECD891C2D}" type="datetime1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ICEFCN-2026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B1682-F003-49EF-A65C-DF9FDB72AF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48492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AF6BE-461D-4223-B0FB-360A95E9BBDA}" type="datetime1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ICEFCN-2026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B1682-F003-49EF-A65C-DF9FDB72AF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189448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D04CB0-1E3D-4A16-9601-BCC50463042F}" type="datetime1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ICEFCN-2026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7B1682-F003-49EF-A65C-DF9FDB72AF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49539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chart" Target="../charts/chart1.xml"/><Relationship Id="rId5" Type="http://schemas.openxmlformats.org/officeDocument/2006/relationships/chart" Target="../charts/char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2000" cy="1341120"/>
          </a:xfrm>
          <a:prstGeom prst="rect">
            <a:avLst/>
          </a:prstGeom>
          <a:solidFill>
            <a:srgbClr val="AE1D49"/>
          </a:solidFill>
          <a:ln w="12700">
            <a:solidFill>
              <a:srgbClr val="AE1D49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" y="97536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24000" y="24384"/>
            <a:ext cx="10363200" cy="1292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Accelerated Gaussian Process Regression in Robotics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Kronecker-Structured Covariance Matrices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828800" y="2316480"/>
            <a:ext cx="8534400" cy="1706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CH.EN.U4RAI24004 – B Arjunan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CH.SC.U4AIE24011 – Daggula Pranadeep Reddy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CH.SC.U4AIE24003 – Achintya TR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828800" y="4145280"/>
            <a:ext cx="8534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65920" y="6187440"/>
            <a:ext cx="2682240" cy="54864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FF2C474-F7D4-C26B-FC62-5A96DB1F4F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E63F6-EAF1-4C7B-AE26-386399A7C126}" type="datetime1">
              <a:rPr lang="en-IN" smtClean="0"/>
              <a:t>06-04-2026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75DED6-2ACA-D4BB-7169-47B34E83B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ICEFCN-2026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714A88-C6D9-0DE5-82CA-D4D086930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B1682-F003-49EF-A65C-DF9FDB72AFC4}" type="slidenum">
              <a:rPr lang="en-IN" smtClean="0"/>
              <a:t>1</a:t>
            </a:fld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7136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92480" y="0"/>
            <a:ext cx="11216640" cy="70713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Abstract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7680" y="950976"/>
            <a:ext cx="11216640" cy="5260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000000"/>
                </a:solidFill>
                <a:latin typeface="Cambria"/>
              </a:rPr>
              <a:t>Gaussian Process (GP) regression provides a powerful probabilistic framework for modeling nonlinear robotic dynamics. However, classical GP inference scales cubically with dataset size — O(N³) time and O(N²) memory — limiting its applicability to large-scale robotic learning problems.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000000"/>
                </a:solidFill>
                <a:latin typeface="Cambria"/>
              </a:rPr>
              <a:t>This paper presents a scalable Gaussian Process framework that integrates sparse inducing-point approximation with Kronecker-structured covariance matrices. By exploiting separable kernel structure and reduced-dimensional feature representation, the proposed method significantly reduces computational complexity while maintaining probabilistic prediction capability.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000000"/>
                </a:solidFill>
                <a:latin typeface="Cambria"/>
              </a:rPr>
              <a:t>Experiments on the SARCOS inverse dynamics dataset (44,484 training samples, 21 features) demonstrate that the proposed Kronecker-GP achieves 34× training speedup (from 1,469s to 43s) and 82.5% memory reduction (from 15 GB to 2.6 GB), while maintaining an R² score of 0.66 using only 5 dominant features. The model preserves well-calibrated uncertainty estimates critical for safety-aware robotic control.</a:t>
            </a:r>
          </a:p>
          <a:p>
            <a:pPr>
              <a:spcBef>
                <a:spcPts val="1600"/>
              </a:spcBef>
            </a:pPr>
            <a:r>
              <a:rPr sz="1400" b="1">
                <a:solidFill>
                  <a:srgbClr val="AE1D49"/>
                </a:solidFill>
                <a:latin typeface="Cambria"/>
              </a:rPr>
              <a:t>Keywords: </a:t>
            </a:r>
            <a:r>
              <a:rPr sz="1400">
                <a:solidFill>
                  <a:srgbClr val="444444"/>
                </a:solidFill>
                <a:latin typeface="Cambria"/>
              </a:rPr>
              <a:t>Gaussian Process Regression, Sparse GP, Kronecker Products, Robotics Learning, Inverse Dynamics, SARCOS Dataset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FF2C474-F7D4-C26B-FC62-5A96DB1F4F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E63F6-EAF1-4C7B-AE26-386399A7C126}" type="datetime1">
              <a:rPr lang="en-IN" smtClean="0"/>
              <a:t>06-04-2026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75DED6-2ACA-D4BB-7169-47B34E83B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ICEFCN-2026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714A88-C6D9-0DE5-82CA-D4D086930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B1682-F003-49EF-A65C-DF9FDB72AFC4}" type="slidenum">
              <a:rPr lang="en-IN" smtClean="0"/>
              <a:t>2</a:t>
            </a:fld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2000" cy="707136"/>
          </a:xfrm>
          <a:prstGeom prst="rect">
            <a:avLst/>
          </a:prstGeom>
          <a:solidFill>
            <a:srgbClr val="AE1D49"/>
          </a:solidFill>
          <a:ln w="12700">
            <a:solidFill>
              <a:srgbClr val="AE1D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92480" y="0"/>
            <a:ext cx="1121664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" y="60960"/>
            <a:ext cx="585216" cy="585216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65920" y="6187440"/>
            <a:ext cx="2682240" cy="5486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87680" y="926592"/>
            <a:ext cx="11216640" cy="52608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Gaussian Process (GP) Regression is a powerful non-parametric probabilistic method for modeling nonlinear robotic systems.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GP provides uncertainty estimates — making it attractive for safe robot control and planning.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However, standard GP training requires O(N³) time and O(N²) memory — infeasible for large robotic datasets.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SARCOS dataset has 44,484 training samples with 21 features — a realistic inverse dynamics benchmark.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work proposes a scalable framework combining Sparse GPs with Kronecker-structured covariance matrices to overcome this bottleneck.</a:t>
            </a:r>
            <a:endParaRPr lang="en-US" sz="1700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FF2C474-F7D4-C26B-FC62-5A96DB1F4F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E63F6-EAF1-4C7B-AE26-386399A7C126}" type="datetime1">
              <a:rPr lang="en-IN" smtClean="0"/>
              <a:t>06-04-2026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75DED6-2ACA-D4BB-7169-47B34E83B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ICEFCN-2026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714A88-C6D9-0DE5-82CA-D4D086930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B1682-F003-49EF-A65C-DF9FDB72AFC4}" type="slidenum">
              <a:rPr lang="en-IN" smtClean="0"/>
              <a:t>3</a:t>
            </a:fld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2000" cy="707136"/>
          </a:xfrm>
          <a:prstGeom prst="rect">
            <a:avLst/>
          </a:prstGeom>
          <a:solidFill>
            <a:srgbClr val="AE1D49"/>
          </a:solidFill>
          <a:ln w="12700">
            <a:solidFill>
              <a:srgbClr val="AE1D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92480" y="0"/>
            <a:ext cx="1121664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 &amp; Objective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" y="60960"/>
            <a:ext cx="585216" cy="585216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65920" y="6187440"/>
            <a:ext cx="2682240" cy="5486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87680" y="950976"/>
            <a:ext cx="11216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AE1D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Problem:</a:t>
            </a:r>
            <a:endParaRPr lang="en-US" sz="1800" dirty="0"/>
          </a:p>
        </p:txBody>
      </p:sp>
      <p:sp>
        <p:nvSpPr>
          <p:cNvPr id="7" name="Text 3"/>
          <p:cNvSpPr/>
          <p:nvPr/>
        </p:nvSpPr>
        <p:spPr>
          <a:xfrm>
            <a:off x="487680" y="1414272"/>
            <a:ext cx="11216640" cy="103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 GP has O(N³) training cost — with N = 44,484 samples, this is computationally prohibitive.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 memory usage O(N²) ≈ 15 GB — not viable for real-time or embedded robotic systems.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487680" y="2560320"/>
            <a:ext cx="11216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AE1D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Objectives: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487680" y="3023616"/>
            <a:ext cx="11216640" cy="3169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Integrate Sparse Inducing Point GP with Kronecker-structured covariance matrices.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the vec-trick to reduce matrix-vector multiplication complexity to near-linear.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Achieve significant speedup and memory reduction on the SARCOS inverse dynamics dataset.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Maintain well-calibrated uncertainty estimates suitable for robotic control.</a:t>
            </a:r>
            <a:endParaRPr lang="en-US" sz="1600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FF2C474-F7D4-C26B-FC62-5A96DB1F4F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E63F6-EAF1-4C7B-AE26-386399A7C126}" type="datetime1">
              <a:rPr lang="en-IN" smtClean="0"/>
              <a:t>06-04-2026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75DED6-2ACA-D4BB-7169-47B34E83B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ICEFCN-2026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714A88-C6D9-0DE5-82CA-D4D086930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B1682-F003-49EF-A65C-DF9FDB72AFC4}" type="slidenum">
              <a:rPr lang="en-IN" smtClean="0"/>
              <a:t>4</a:t>
            </a:fld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7136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92480" y="0"/>
            <a:ext cx="11216640" cy="70713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Related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7680" y="926592"/>
            <a:ext cx="11216640" cy="5260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AE1D49"/>
                </a:solidFill>
                <a:latin typeface="Cambria"/>
              </a:rPr>
              <a:t>• Sparse Gaussian Processes [Snelson &amp; Ghahramani, 2006]:</a:t>
            </a:r>
          </a:p>
          <a:p>
            <a:pPr marL="274320">
              <a:spcAft>
                <a:spcPts val="800"/>
              </a:spcAft>
            </a:pPr>
            <a:r>
              <a:rPr sz="1400">
                <a:solidFill>
                  <a:srgbClr val="000000"/>
                </a:solidFill>
                <a:latin typeface="Cambria"/>
              </a:rPr>
              <a:t>Introduced inducing variables (pseudo-inputs) to reduce GP training complexity from O(N³) to O(NM²+M³), enabling GP on moderately large datasets. Foundation for our sparse approximation layer.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1">
                <a:solidFill>
                  <a:srgbClr val="AE1D49"/>
                </a:solidFill>
                <a:latin typeface="Cambria"/>
              </a:rPr>
              <a:t>• Kronecker Methods for Structured GPs [Saatci, 2012]:</a:t>
            </a:r>
          </a:p>
          <a:p>
            <a:pPr marL="274320">
              <a:spcAft>
                <a:spcPts val="800"/>
              </a:spcAft>
            </a:pPr>
            <a:r>
              <a:rPr sz="1400">
                <a:solidFill>
                  <a:srgbClr val="000000"/>
                </a:solidFill>
                <a:latin typeface="Cambria"/>
              </a:rPr>
              <a:t>Exploited separable kernel structure on grid-structured inputs to factorize covariance matrices via Kronecker products, reducing cost to O(Dm³). Key mathematical framework adopted in this work.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1">
                <a:solidFill>
                  <a:srgbClr val="AE1D49"/>
                </a:solidFill>
                <a:latin typeface="Cambria"/>
              </a:rPr>
              <a:t>• GP for Robotic Inverse Dynamics [Peters &amp; Schaal, 2008]:</a:t>
            </a:r>
          </a:p>
          <a:p>
            <a:pPr marL="274320">
              <a:spcAft>
                <a:spcPts val="800"/>
              </a:spcAft>
            </a:pPr>
            <a:r>
              <a:rPr sz="1400">
                <a:solidFill>
                  <a:srgbClr val="000000"/>
                </a:solidFill>
                <a:latin typeface="Cambria"/>
              </a:rPr>
              <a:t>Demonstrated GP's effectiveness for learning robot arm dynamics from the SARCOS dataset. Showed strong predictive performance but limited to small subsets due to cubic scaling.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1">
                <a:solidFill>
                  <a:srgbClr val="1ABC9C"/>
                </a:solidFill>
                <a:latin typeface="Cambria"/>
              </a:rPr>
              <a:t>• This Work — Unified Framework:</a:t>
            </a:r>
          </a:p>
          <a:p>
            <a:pPr marL="274320">
              <a:spcAft>
                <a:spcPts val="800"/>
              </a:spcAft>
            </a:pPr>
            <a:r>
              <a:rPr sz="1400">
                <a:solidFill>
                  <a:srgbClr val="000000"/>
                </a:solidFill>
                <a:latin typeface="Cambria"/>
              </a:rPr>
              <a:t>Integrates sparse inducing points, Kronecker kernel factorization, and the vec-trick within a single framework optimized for large-scale robotic learning (44,484 samples in 43 seconds).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FF2C474-F7D4-C26B-FC62-5A96DB1F4F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E63F6-EAF1-4C7B-AE26-386399A7C126}" type="datetime1">
              <a:rPr lang="en-IN" smtClean="0"/>
              <a:t>06-04-2026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75DED6-2ACA-D4BB-7169-47B34E83B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ICEFCN-2026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714A88-C6D9-0DE5-82CA-D4D086930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B1682-F003-49EF-A65C-DF9FDB72AFC4}" type="slidenum">
              <a:rPr lang="en-IN" smtClean="0"/>
              <a:t>5</a:t>
            </a:fld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2000" cy="707136"/>
          </a:xfrm>
          <a:prstGeom prst="rect">
            <a:avLst/>
          </a:prstGeom>
          <a:solidFill>
            <a:srgbClr val="AE1D49"/>
          </a:solidFill>
          <a:ln w="12700">
            <a:solidFill>
              <a:srgbClr val="AE1D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92480" y="0"/>
            <a:ext cx="1121664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 — Pipeline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" y="60960"/>
            <a:ext cx="585216" cy="585216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65920" y="6187440"/>
            <a:ext cx="2682240" cy="54864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304800" y="950976"/>
            <a:ext cx="1731264" cy="1219200"/>
          </a:xfrm>
          <a:prstGeom prst="rect">
            <a:avLst/>
          </a:prstGeom>
          <a:solidFill>
            <a:srgbClr val="AE1D49"/>
          </a:solidFill>
          <a:ln w="12700">
            <a:solidFill>
              <a:srgbClr val="AE1D49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304800" y="950976"/>
            <a:ext cx="1731264" cy="1219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SARCOS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(44,484 pts)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2036064" y="1511808"/>
            <a:ext cx="121920" cy="97536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2157984" y="950976"/>
            <a:ext cx="1731264" cy="121920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2157984" y="950976"/>
            <a:ext cx="1731264" cy="1219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Reduction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 → 5 dims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3889248" y="1511808"/>
            <a:ext cx="121920" cy="97536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011168" y="950976"/>
            <a:ext cx="1731264" cy="121920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011168" y="950976"/>
            <a:ext cx="1731264" cy="1219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Kronecker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Inducing Grid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 = 6⁵ = 7,776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742432" y="1511808"/>
            <a:ext cx="121920" cy="97536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864352" y="950976"/>
            <a:ext cx="1731264" cy="121920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864352" y="950976"/>
            <a:ext cx="1731264" cy="1219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Vec-Trick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K̃uf = QᵀKuf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7595616" y="1511808"/>
            <a:ext cx="121920" cy="97536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7717536" y="950976"/>
            <a:ext cx="1731264" cy="121920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7717536" y="950976"/>
            <a:ext cx="1731264" cy="1219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Woodbury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Solver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α = Σ̃⁻¹σₙ⁻²K̃ufy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9448800" y="1511808"/>
            <a:ext cx="121920" cy="97536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9570720" y="950976"/>
            <a:ext cx="1731264" cy="121920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9570720" y="950976"/>
            <a:ext cx="1731264" cy="1219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 +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Uncertainty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487680" y="2340864"/>
            <a:ext cx="112166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AE1D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Concepts:</a:t>
            </a:r>
            <a:endParaRPr lang="en-US" sz="1700" dirty="0"/>
          </a:p>
        </p:txBody>
      </p:sp>
      <p:sp>
        <p:nvSpPr>
          <p:cNvPr id="24" name="Text 20"/>
          <p:cNvSpPr/>
          <p:nvPr/>
        </p:nvSpPr>
        <p:spPr>
          <a:xfrm>
            <a:off x="487680" y="2804160"/>
            <a:ext cx="11216640" cy="3413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700"/>
              </a:spcAft>
              <a:buNone/>
            </a:pPr>
            <a:r>
              <a:rPr lang="en-US" sz="15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 Sparse GP: </a:t>
            </a:r>
            <a:r>
              <a:rPr lang="en-US" sz="15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Approximates full GP with M ≪ N inducing points → reduces O(N³) to O(NM²)</a:t>
            </a:r>
            <a:endParaRPr lang="en-US" sz="15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5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 Kronecker Structure: </a:t>
            </a:r>
            <a:r>
              <a:rPr lang="en-US" sz="15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Grid inducing points factorize kernel: Kuu = K₁ ⊗ K₂ ⊗ … ⊗ KD</a:t>
            </a:r>
            <a:endParaRPr lang="en-US" sz="15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5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 Vec-Trick: </a:t>
            </a:r>
            <a:r>
              <a:rPr lang="en-US" sz="15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MVM via tensor reshape: reduces memory from O(M²) to O(DM), nearly linear</a:t>
            </a:r>
            <a:endParaRPr lang="en-US" sz="15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5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 Eigen-Space Solver: </a:t>
            </a:r>
            <a:r>
              <a:rPr lang="en-US" sz="15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Per-dimension eigendecomposition of m×m matrices ensures numerical stability</a:t>
            </a:r>
            <a:endParaRPr lang="en-US" sz="1500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FF2C474-F7D4-C26B-FC62-5A96DB1F4F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E63F6-EAF1-4C7B-AE26-386399A7C126}" type="datetime1">
              <a:rPr lang="en-IN" smtClean="0"/>
              <a:t>06-04-2026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75DED6-2ACA-D4BB-7169-47B34E83B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ICEFCN-2026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714A88-C6D9-0DE5-82CA-D4D086930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B1682-F003-49EF-A65C-DF9FDB72AFC4}" type="slidenum">
              <a:rPr lang="en-IN" smtClean="0"/>
              <a:t>6</a:t>
            </a:fld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2000" cy="707136"/>
          </a:xfrm>
          <a:prstGeom prst="rect">
            <a:avLst/>
          </a:prstGeom>
          <a:solidFill>
            <a:srgbClr val="AE1D49"/>
          </a:solidFill>
          <a:ln w="12700">
            <a:solidFill>
              <a:srgbClr val="AE1D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92480" y="0"/>
            <a:ext cx="1121664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 — Algorithm &amp; Complexity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" y="60960"/>
            <a:ext cx="585216" cy="585216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65920" y="6187440"/>
            <a:ext cx="2682240" cy="54864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365760" y="853440"/>
            <a:ext cx="6705600" cy="5364480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487680" y="950976"/>
            <a:ext cx="6461760" cy="51206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BC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Algorithm: Kronecker-Sparse GP</a:t>
            </a:r>
            <a:endParaRPr lang="en-US" sz="13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1C4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Input: 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X, y, m, kernel k, σ²ₙ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d = 1 to D: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Zd ← quantile grid of X[:,d]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Kd ← kernel(Zd, Zd) ∈ ℝᵐˣᵐ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Qd, Λd ← eig(Kd)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 for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Kuf ← RBF cross-covariance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K̃uf ← Qᵀ Kuf  [vec-trick]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Σ̃ ← Λ + σₙ⁻² K̃uf K̃ufᵀ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α ← Chol(Σ̃+εI)⁻¹ σₙ⁻² K̃uf y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1C4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Output: 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α, {Qd, Λd}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7437120" y="853440"/>
            <a:ext cx="451104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E1D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Complexity Comparison: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7437120" y="1402080"/>
            <a:ext cx="4511040" cy="682752"/>
          </a:xfrm>
          <a:prstGeom prst="rect">
            <a:avLst/>
          </a:prstGeom>
          <a:solidFill>
            <a:srgbClr val="AE1D49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534656" y="1487424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9729216" y="1487424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Complexity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7437120" y="2133600"/>
            <a:ext cx="4511040" cy="682752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7534656" y="2218944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GP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9729216" y="2218944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O(N³)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7437120" y="2865120"/>
            <a:ext cx="4511040" cy="68275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534656" y="2950464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Sparse GP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9729216" y="2950464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O(NM² + M³)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7437120" y="3596640"/>
            <a:ext cx="4511040" cy="682752"/>
          </a:xfrm>
          <a:prstGeom prst="rect">
            <a:avLst/>
          </a:prstGeom>
          <a:solidFill>
            <a:srgbClr val="F9EBE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7534656" y="3681984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Kronecker GP ✓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9729216" y="3681984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AE1D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O(Dm³ + NM)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7437120" y="4450080"/>
            <a:ext cx="4511040" cy="1584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444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Config: D=5 dims, m=6 pts/dim</a:t>
            </a:r>
            <a:endParaRPr lang="en-US" sz="1300" dirty="0"/>
          </a:p>
          <a:p>
            <a:pPr marL="0" indent="0">
              <a:buNone/>
            </a:pPr>
            <a:r>
              <a:rPr lang="en-US" sz="1300" i="1" dirty="0">
                <a:solidFill>
                  <a:srgbClr val="4444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 = 6⁵ = 7,776 inducing points</a:t>
            </a:r>
            <a:endParaRPr lang="en-US" sz="1300" dirty="0"/>
          </a:p>
          <a:p>
            <a:pPr marL="0" indent="0">
              <a:buNone/>
            </a:pPr>
            <a:r>
              <a:rPr lang="en-US" sz="1300" i="1" dirty="0">
                <a:solidFill>
                  <a:srgbClr val="4444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 = 44,484 training samples</a:t>
            </a:r>
            <a:endParaRPr lang="en-US" sz="1300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FF2C474-F7D4-C26B-FC62-5A96DB1F4F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E63F6-EAF1-4C7B-AE26-386399A7C126}" type="datetime1">
              <a:rPr lang="en-IN" smtClean="0"/>
              <a:t>06-04-2026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75DED6-2ACA-D4BB-7169-47B34E83B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ICEFCN-2026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714A88-C6D9-0DE5-82CA-D4D086930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B1682-F003-49EF-A65C-DF9FDB72AFC4}" type="slidenum">
              <a:rPr lang="en-IN" smtClean="0"/>
              <a:t>7</a:t>
            </a:fld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2000" cy="707136"/>
          </a:xfrm>
          <a:prstGeom prst="rect">
            <a:avLst/>
          </a:prstGeom>
          <a:solidFill>
            <a:srgbClr val="AE1D49"/>
          </a:solidFill>
          <a:ln w="12700">
            <a:solidFill>
              <a:srgbClr val="AE1D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92480" y="0"/>
            <a:ext cx="1121664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&amp; Findings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" y="60960"/>
            <a:ext cx="585216" cy="585216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65920" y="6187440"/>
            <a:ext cx="2682240" cy="54864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304800" y="853440"/>
            <a:ext cx="2682240" cy="1463040"/>
          </a:xfrm>
          <a:prstGeom prst="rect">
            <a:avLst/>
          </a:prstGeom>
          <a:solidFill>
            <a:srgbClr val="AE1D49"/>
          </a:solidFill>
          <a:ln w="12700">
            <a:solidFill>
              <a:srgbClr val="AE1D49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304800" y="890016"/>
            <a:ext cx="2682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34×</a:t>
            </a:r>
            <a:endParaRPr lang="en-US" sz="2600" dirty="0"/>
          </a:p>
        </p:txBody>
      </p:sp>
      <p:sp>
        <p:nvSpPr>
          <p:cNvPr id="8" name="Text 4"/>
          <p:cNvSpPr/>
          <p:nvPr/>
        </p:nvSpPr>
        <p:spPr>
          <a:xfrm>
            <a:off x="304800" y="1524000"/>
            <a:ext cx="2682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Faster Training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1469s → 40s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3206496" y="853440"/>
            <a:ext cx="2682240" cy="1463040"/>
          </a:xfrm>
          <a:prstGeom prst="rect">
            <a:avLst/>
          </a:prstGeom>
          <a:solidFill>
            <a:srgbClr val="AE1D49"/>
          </a:solidFill>
          <a:ln w="12700">
            <a:solidFill>
              <a:srgbClr val="AE1D49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3206496" y="890016"/>
            <a:ext cx="2682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82.5%</a:t>
            </a:r>
            <a:endParaRPr lang="en-US" sz="2600" dirty="0"/>
          </a:p>
        </p:txBody>
      </p:sp>
      <p:sp>
        <p:nvSpPr>
          <p:cNvPr id="11" name="Text 7"/>
          <p:cNvSpPr/>
          <p:nvPr/>
        </p:nvSpPr>
        <p:spPr>
          <a:xfrm>
            <a:off x="3206496" y="1524000"/>
            <a:ext cx="2682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Memory Saved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 GB → 2.6 GB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108192" y="853440"/>
            <a:ext cx="2682240" cy="1463040"/>
          </a:xfrm>
          <a:prstGeom prst="rect">
            <a:avLst/>
          </a:prstGeom>
          <a:solidFill>
            <a:srgbClr val="AE1D49"/>
          </a:solidFill>
          <a:ln w="12700">
            <a:solidFill>
              <a:srgbClr val="AE1D49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108192" y="890016"/>
            <a:ext cx="2682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R²=0.66</a:t>
            </a:r>
            <a:endParaRPr lang="en-US" sz="2600" dirty="0"/>
          </a:p>
        </p:txBody>
      </p:sp>
      <p:sp>
        <p:nvSpPr>
          <p:cNvPr id="14" name="Text 10"/>
          <p:cNvSpPr/>
          <p:nvPr/>
        </p:nvSpPr>
        <p:spPr>
          <a:xfrm>
            <a:off x="6108192" y="1524000"/>
            <a:ext cx="2682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 SARCOS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4,449 test pts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9009888" y="853440"/>
            <a:ext cx="2682240" cy="1463040"/>
          </a:xfrm>
          <a:prstGeom prst="rect">
            <a:avLst/>
          </a:prstGeom>
          <a:solidFill>
            <a:srgbClr val="AE1D49"/>
          </a:solidFill>
          <a:ln w="12700">
            <a:solidFill>
              <a:srgbClr val="AE1D49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9009888" y="890016"/>
            <a:ext cx="2682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43s</a:t>
            </a:r>
            <a:endParaRPr lang="en-US" sz="2600" dirty="0"/>
          </a:p>
        </p:txBody>
      </p:sp>
      <p:sp>
        <p:nvSpPr>
          <p:cNvPr id="17" name="Text 13"/>
          <p:cNvSpPr/>
          <p:nvPr/>
        </p:nvSpPr>
        <p:spPr>
          <a:xfrm>
            <a:off x="9009888" y="1524000"/>
            <a:ext cx="2682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 Training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44,484 samples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365760" y="2499360"/>
            <a:ext cx="114604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E1D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Comparison with Baseline Methods (SARCOS Dataset):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304800" y="2987040"/>
            <a:ext cx="2438400" cy="512064"/>
          </a:xfrm>
          <a:prstGeom prst="rect">
            <a:avLst/>
          </a:prstGeom>
          <a:solidFill>
            <a:srgbClr val="AE1D49"/>
          </a:solidFill>
          <a:ln w="12700">
            <a:solidFill>
              <a:srgbClr val="AE1D49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304800" y="2987040"/>
            <a:ext cx="2438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2743200" y="2987040"/>
            <a:ext cx="1463040" cy="512064"/>
          </a:xfrm>
          <a:prstGeom prst="rect">
            <a:avLst/>
          </a:prstGeom>
          <a:solidFill>
            <a:srgbClr val="AE1D49"/>
          </a:solidFill>
          <a:ln w="12700">
            <a:solidFill>
              <a:srgbClr val="AE1D49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2743200" y="2987040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RMSE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4206240" y="2987040"/>
            <a:ext cx="1219200" cy="512064"/>
          </a:xfrm>
          <a:prstGeom prst="rect">
            <a:avLst/>
          </a:prstGeom>
          <a:solidFill>
            <a:srgbClr val="AE1D49"/>
          </a:solidFill>
          <a:ln w="12700">
            <a:solidFill>
              <a:srgbClr val="AE1D49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4206240" y="2987040"/>
            <a:ext cx="1219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R²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5425440" y="2987040"/>
            <a:ext cx="1706880" cy="512064"/>
          </a:xfrm>
          <a:prstGeom prst="rect">
            <a:avLst/>
          </a:prstGeom>
          <a:solidFill>
            <a:srgbClr val="AE1D49"/>
          </a:solidFill>
          <a:ln w="12700">
            <a:solidFill>
              <a:srgbClr val="AE1D49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5425440" y="2987040"/>
            <a:ext cx="1706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 (s)</a:t>
            </a:r>
            <a:endParaRPr lang="en-US" sz="1300" dirty="0"/>
          </a:p>
        </p:txBody>
      </p:sp>
      <p:sp>
        <p:nvSpPr>
          <p:cNvPr id="27" name="Shape 23"/>
          <p:cNvSpPr/>
          <p:nvPr/>
        </p:nvSpPr>
        <p:spPr>
          <a:xfrm>
            <a:off x="7132320" y="2987040"/>
            <a:ext cx="1463040" cy="512064"/>
          </a:xfrm>
          <a:prstGeom prst="rect">
            <a:avLst/>
          </a:prstGeom>
          <a:solidFill>
            <a:srgbClr val="AE1D49"/>
          </a:solidFill>
          <a:ln w="12700">
            <a:solidFill>
              <a:srgbClr val="AE1D49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7132320" y="2987040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 (s)</a:t>
            </a:r>
            <a:endParaRPr lang="en-US" sz="1300" dirty="0"/>
          </a:p>
        </p:txBody>
      </p:sp>
      <p:sp>
        <p:nvSpPr>
          <p:cNvPr id="29" name="Shape 25"/>
          <p:cNvSpPr/>
          <p:nvPr/>
        </p:nvSpPr>
        <p:spPr>
          <a:xfrm>
            <a:off x="8595360" y="2987040"/>
            <a:ext cx="1706880" cy="512064"/>
          </a:xfrm>
          <a:prstGeom prst="rect">
            <a:avLst/>
          </a:prstGeom>
          <a:solidFill>
            <a:srgbClr val="AE1D49"/>
          </a:solidFill>
          <a:ln w="12700">
            <a:solidFill>
              <a:srgbClr val="AE1D49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8595360" y="2987040"/>
            <a:ext cx="1706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 (GB)</a:t>
            </a:r>
            <a:endParaRPr lang="en-US" sz="1300" dirty="0"/>
          </a:p>
        </p:txBody>
      </p:sp>
      <p:sp>
        <p:nvSpPr>
          <p:cNvPr id="31" name="Shape 27"/>
          <p:cNvSpPr/>
          <p:nvPr/>
        </p:nvSpPr>
        <p:spPr>
          <a:xfrm>
            <a:off x="304800" y="3535680"/>
            <a:ext cx="2438400" cy="48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304800" y="3560064"/>
            <a:ext cx="2438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Linear Reg.</a:t>
            </a:r>
            <a:endParaRPr lang="en-US" sz="1300" dirty="0"/>
          </a:p>
        </p:txBody>
      </p:sp>
      <p:sp>
        <p:nvSpPr>
          <p:cNvPr id="33" name="Shape 29"/>
          <p:cNvSpPr/>
          <p:nvPr/>
        </p:nvSpPr>
        <p:spPr>
          <a:xfrm>
            <a:off x="2743200" y="3535680"/>
            <a:ext cx="1463040" cy="48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2743200" y="3560064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0.91</a:t>
            </a:r>
            <a:endParaRPr lang="en-US" sz="1300" dirty="0"/>
          </a:p>
        </p:txBody>
      </p:sp>
      <p:sp>
        <p:nvSpPr>
          <p:cNvPr id="35" name="Shape 31"/>
          <p:cNvSpPr/>
          <p:nvPr/>
        </p:nvSpPr>
        <p:spPr>
          <a:xfrm>
            <a:off x="4206240" y="3535680"/>
            <a:ext cx="1219200" cy="48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4206240" y="3560064"/>
            <a:ext cx="121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0.42</a:t>
            </a:r>
            <a:endParaRPr lang="en-US" sz="1300" dirty="0"/>
          </a:p>
        </p:txBody>
      </p:sp>
      <p:sp>
        <p:nvSpPr>
          <p:cNvPr id="37" name="Shape 33"/>
          <p:cNvSpPr/>
          <p:nvPr/>
        </p:nvSpPr>
        <p:spPr>
          <a:xfrm>
            <a:off x="5425440" y="3535680"/>
            <a:ext cx="1706880" cy="48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5425440" y="3560064"/>
            <a:ext cx="1706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39" name="Shape 35"/>
          <p:cNvSpPr/>
          <p:nvPr/>
        </p:nvSpPr>
        <p:spPr>
          <a:xfrm>
            <a:off x="7132320" y="3535680"/>
            <a:ext cx="1463040" cy="48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7132320" y="3560064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0.01</a:t>
            </a:r>
            <a:endParaRPr lang="en-US" sz="1300" dirty="0"/>
          </a:p>
        </p:txBody>
      </p:sp>
      <p:sp>
        <p:nvSpPr>
          <p:cNvPr id="41" name="Shape 37"/>
          <p:cNvSpPr/>
          <p:nvPr/>
        </p:nvSpPr>
        <p:spPr>
          <a:xfrm>
            <a:off x="8595360" y="3535680"/>
            <a:ext cx="1706880" cy="48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8595360" y="3560064"/>
            <a:ext cx="1706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</a:t>
            </a:r>
            <a:endParaRPr lang="en-US" sz="1300" dirty="0"/>
          </a:p>
        </p:txBody>
      </p:sp>
      <p:sp>
        <p:nvSpPr>
          <p:cNvPr id="43" name="Shape 39"/>
          <p:cNvSpPr/>
          <p:nvPr/>
        </p:nvSpPr>
        <p:spPr>
          <a:xfrm>
            <a:off x="304800" y="4047744"/>
            <a:ext cx="2438400" cy="48768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304800" y="4072128"/>
            <a:ext cx="2438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SVR (RBF)</a:t>
            </a:r>
            <a:endParaRPr lang="en-US" sz="1300" dirty="0"/>
          </a:p>
        </p:txBody>
      </p:sp>
      <p:sp>
        <p:nvSpPr>
          <p:cNvPr id="45" name="Shape 41"/>
          <p:cNvSpPr/>
          <p:nvPr/>
        </p:nvSpPr>
        <p:spPr>
          <a:xfrm>
            <a:off x="2743200" y="4047744"/>
            <a:ext cx="1463040" cy="48768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6" name="Text 42"/>
          <p:cNvSpPr/>
          <p:nvPr/>
        </p:nvSpPr>
        <p:spPr>
          <a:xfrm>
            <a:off x="2743200" y="4072128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0.65</a:t>
            </a:r>
            <a:endParaRPr lang="en-US" sz="1300" dirty="0"/>
          </a:p>
        </p:txBody>
      </p:sp>
      <p:sp>
        <p:nvSpPr>
          <p:cNvPr id="47" name="Shape 43"/>
          <p:cNvSpPr/>
          <p:nvPr/>
        </p:nvSpPr>
        <p:spPr>
          <a:xfrm>
            <a:off x="4206240" y="4047744"/>
            <a:ext cx="1219200" cy="48768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8" name="Text 44"/>
          <p:cNvSpPr/>
          <p:nvPr/>
        </p:nvSpPr>
        <p:spPr>
          <a:xfrm>
            <a:off x="4206240" y="4072128"/>
            <a:ext cx="121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0.71</a:t>
            </a:r>
            <a:endParaRPr lang="en-US" sz="1300" dirty="0"/>
          </a:p>
        </p:txBody>
      </p:sp>
      <p:sp>
        <p:nvSpPr>
          <p:cNvPr id="49" name="Shape 45"/>
          <p:cNvSpPr/>
          <p:nvPr/>
        </p:nvSpPr>
        <p:spPr>
          <a:xfrm>
            <a:off x="5425440" y="4047744"/>
            <a:ext cx="1706880" cy="48768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5425440" y="4072128"/>
            <a:ext cx="1706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120</a:t>
            </a:r>
            <a:endParaRPr lang="en-US" sz="1300" dirty="0"/>
          </a:p>
        </p:txBody>
      </p:sp>
      <p:sp>
        <p:nvSpPr>
          <p:cNvPr id="51" name="Shape 47"/>
          <p:cNvSpPr/>
          <p:nvPr/>
        </p:nvSpPr>
        <p:spPr>
          <a:xfrm>
            <a:off x="7132320" y="4047744"/>
            <a:ext cx="1463040" cy="48768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2" name="Text 48"/>
          <p:cNvSpPr/>
          <p:nvPr/>
        </p:nvSpPr>
        <p:spPr>
          <a:xfrm>
            <a:off x="7132320" y="4072128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0.35</a:t>
            </a:r>
            <a:endParaRPr lang="en-US" sz="1300" dirty="0"/>
          </a:p>
        </p:txBody>
      </p:sp>
      <p:sp>
        <p:nvSpPr>
          <p:cNvPr id="53" name="Shape 49"/>
          <p:cNvSpPr/>
          <p:nvPr/>
        </p:nvSpPr>
        <p:spPr>
          <a:xfrm>
            <a:off x="8595360" y="4047744"/>
            <a:ext cx="1706880" cy="48768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4" name="Text 50"/>
          <p:cNvSpPr/>
          <p:nvPr/>
        </p:nvSpPr>
        <p:spPr>
          <a:xfrm>
            <a:off x="8595360" y="4072128"/>
            <a:ext cx="1706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4.8</a:t>
            </a:r>
            <a:endParaRPr lang="en-US" sz="1300" dirty="0"/>
          </a:p>
        </p:txBody>
      </p:sp>
      <p:sp>
        <p:nvSpPr>
          <p:cNvPr id="55" name="Shape 51"/>
          <p:cNvSpPr/>
          <p:nvPr/>
        </p:nvSpPr>
        <p:spPr>
          <a:xfrm>
            <a:off x="304800" y="4559808"/>
            <a:ext cx="2438400" cy="48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6" name="Text 52"/>
          <p:cNvSpPr/>
          <p:nvPr/>
        </p:nvSpPr>
        <p:spPr>
          <a:xfrm>
            <a:off x="304800" y="4584192"/>
            <a:ext cx="2438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</a:t>
            </a:r>
            <a:endParaRPr lang="en-US" sz="1300" dirty="0"/>
          </a:p>
        </p:txBody>
      </p:sp>
      <p:sp>
        <p:nvSpPr>
          <p:cNvPr id="57" name="Shape 53"/>
          <p:cNvSpPr/>
          <p:nvPr/>
        </p:nvSpPr>
        <p:spPr>
          <a:xfrm>
            <a:off x="2743200" y="4559808"/>
            <a:ext cx="1463040" cy="48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8" name="Text 54"/>
          <p:cNvSpPr/>
          <p:nvPr/>
        </p:nvSpPr>
        <p:spPr>
          <a:xfrm>
            <a:off x="2743200" y="4584192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0.58</a:t>
            </a:r>
            <a:endParaRPr lang="en-US" sz="1300" dirty="0"/>
          </a:p>
        </p:txBody>
      </p:sp>
      <p:sp>
        <p:nvSpPr>
          <p:cNvPr id="59" name="Shape 55"/>
          <p:cNvSpPr/>
          <p:nvPr/>
        </p:nvSpPr>
        <p:spPr>
          <a:xfrm>
            <a:off x="4206240" y="4559808"/>
            <a:ext cx="1219200" cy="48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0" name="Text 56"/>
          <p:cNvSpPr/>
          <p:nvPr/>
        </p:nvSpPr>
        <p:spPr>
          <a:xfrm>
            <a:off x="4206240" y="4584192"/>
            <a:ext cx="121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0.76</a:t>
            </a:r>
            <a:endParaRPr lang="en-US" sz="1300" dirty="0"/>
          </a:p>
        </p:txBody>
      </p:sp>
      <p:sp>
        <p:nvSpPr>
          <p:cNvPr id="61" name="Shape 57"/>
          <p:cNvSpPr/>
          <p:nvPr/>
        </p:nvSpPr>
        <p:spPr>
          <a:xfrm>
            <a:off x="5425440" y="4559808"/>
            <a:ext cx="1706880" cy="48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2" name="Text 58"/>
          <p:cNvSpPr/>
          <p:nvPr/>
        </p:nvSpPr>
        <p:spPr>
          <a:xfrm>
            <a:off x="5425440" y="4584192"/>
            <a:ext cx="1706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</a:t>
            </a:r>
            <a:endParaRPr lang="en-US" sz="1300" dirty="0"/>
          </a:p>
        </p:txBody>
      </p:sp>
      <p:sp>
        <p:nvSpPr>
          <p:cNvPr id="63" name="Shape 59"/>
          <p:cNvSpPr/>
          <p:nvPr/>
        </p:nvSpPr>
        <p:spPr>
          <a:xfrm>
            <a:off x="7132320" y="4559808"/>
            <a:ext cx="1463040" cy="48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4" name="Text 60"/>
          <p:cNvSpPr/>
          <p:nvPr/>
        </p:nvSpPr>
        <p:spPr>
          <a:xfrm>
            <a:off x="7132320" y="4584192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0.18</a:t>
            </a:r>
            <a:endParaRPr lang="en-US" sz="1300" dirty="0"/>
          </a:p>
        </p:txBody>
      </p:sp>
      <p:sp>
        <p:nvSpPr>
          <p:cNvPr id="65" name="Shape 61"/>
          <p:cNvSpPr/>
          <p:nvPr/>
        </p:nvSpPr>
        <p:spPr>
          <a:xfrm>
            <a:off x="8595360" y="4559808"/>
            <a:ext cx="1706880" cy="48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6" name="Text 62"/>
          <p:cNvSpPr/>
          <p:nvPr/>
        </p:nvSpPr>
        <p:spPr>
          <a:xfrm>
            <a:off x="8595360" y="4584192"/>
            <a:ext cx="1706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3.2</a:t>
            </a:r>
            <a:endParaRPr lang="en-US" sz="1300" dirty="0"/>
          </a:p>
        </p:txBody>
      </p:sp>
      <p:sp>
        <p:nvSpPr>
          <p:cNvPr id="67" name="Shape 63"/>
          <p:cNvSpPr/>
          <p:nvPr/>
        </p:nvSpPr>
        <p:spPr>
          <a:xfrm>
            <a:off x="304800" y="5071872"/>
            <a:ext cx="2438400" cy="48768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8" name="Text 64"/>
          <p:cNvSpPr/>
          <p:nvPr/>
        </p:nvSpPr>
        <p:spPr>
          <a:xfrm>
            <a:off x="304800" y="5096256"/>
            <a:ext cx="2438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GP</a:t>
            </a:r>
            <a:endParaRPr lang="en-US" sz="1300" dirty="0"/>
          </a:p>
        </p:txBody>
      </p:sp>
      <p:sp>
        <p:nvSpPr>
          <p:cNvPr id="69" name="Shape 65"/>
          <p:cNvSpPr/>
          <p:nvPr/>
        </p:nvSpPr>
        <p:spPr>
          <a:xfrm>
            <a:off x="2743200" y="5071872"/>
            <a:ext cx="1463040" cy="48768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0" name="Text 66"/>
          <p:cNvSpPr/>
          <p:nvPr/>
        </p:nvSpPr>
        <p:spPr>
          <a:xfrm>
            <a:off x="2743200" y="5096256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0.42</a:t>
            </a:r>
            <a:endParaRPr lang="en-US" sz="1300" dirty="0"/>
          </a:p>
        </p:txBody>
      </p:sp>
      <p:sp>
        <p:nvSpPr>
          <p:cNvPr id="71" name="Shape 67"/>
          <p:cNvSpPr/>
          <p:nvPr/>
        </p:nvSpPr>
        <p:spPr>
          <a:xfrm>
            <a:off x="4206240" y="5071872"/>
            <a:ext cx="1219200" cy="48768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2" name="Text 68"/>
          <p:cNvSpPr/>
          <p:nvPr/>
        </p:nvSpPr>
        <p:spPr>
          <a:xfrm>
            <a:off x="4206240" y="5096256"/>
            <a:ext cx="121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0.99</a:t>
            </a:r>
            <a:endParaRPr lang="en-US" sz="1300" dirty="0"/>
          </a:p>
        </p:txBody>
      </p:sp>
      <p:sp>
        <p:nvSpPr>
          <p:cNvPr id="73" name="Shape 69"/>
          <p:cNvSpPr/>
          <p:nvPr/>
        </p:nvSpPr>
        <p:spPr>
          <a:xfrm>
            <a:off x="5425440" y="5071872"/>
            <a:ext cx="1706880" cy="48768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4" name="Text 70"/>
          <p:cNvSpPr/>
          <p:nvPr/>
        </p:nvSpPr>
        <p:spPr>
          <a:xfrm>
            <a:off x="5425440" y="5096256"/>
            <a:ext cx="1706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1469</a:t>
            </a:r>
            <a:endParaRPr lang="en-US" sz="1300" dirty="0"/>
          </a:p>
        </p:txBody>
      </p:sp>
      <p:sp>
        <p:nvSpPr>
          <p:cNvPr id="75" name="Shape 71"/>
          <p:cNvSpPr/>
          <p:nvPr/>
        </p:nvSpPr>
        <p:spPr>
          <a:xfrm>
            <a:off x="7132320" y="5071872"/>
            <a:ext cx="1463040" cy="48768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6" name="Text 72"/>
          <p:cNvSpPr/>
          <p:nvPr/>
        </p:nvSpPr>
        <p:spPr>
          <a:xfrm>
            <a:off x="7132320" y="5096256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52.0</a:t>
            </a:r>
            <a:endParaRPr lang="en-US" sz="1300" dirty="0"/>
          </a:p>
        </p:txBody>
      </p:sp>
      <p:sp>
        <p:nvSpPr>
          <p:cNvPr id="77" name="Shape 73"/>
          <p:cNvSpPr/>
          <p:nvPr/>
        </p:nvSpPr>
        <p:spPr>
          <a:xfrm>
            <a:off x="8595360" y="5071872"/>
            <a:ext cx="1706880" cy="48768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8" name="Text 74"/>
          <p:cNvSpPr/>
          <p:nvPr/>
        </p:nvSpPr>
        <p:spPr>
          <a:xfrm>
            <a:off x="8595360" y="5096256"/>
            <a:ext cx="1706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15.0</a:t>
            </a:r>
            <a:endParaRPr lang="en-US" sz="1300" dirty="0"/>
          </a:p>
        </p:txBody>
      </p:sp>
      <p:sp>
        <p:nvSpPr>
          <p:cNvPr id="79" name="Shape 75"/>
          <p:cNvSpPr/>
          <p:nvPr/>
        </p:nvSpPr>
        <p:spPr>
          <a:xfrm>
            <a:off x="304800" y="5583936"/>
            <a:ext cx="2438400" cy="487680"/>
          </a:xfrm>
          <a:prstGeom prst="rect">
            <a:avLst/>
          </a:prstGeom>
          <a:solidFill>
            <a:srgbClr val="F9EBE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0" name="Text 76"/>
          <p:cNvSpPr/>
          <p:nvPr/>
        </p:nvSpPr>
        <p:spPr>
          <a:xfrm>
            <a:off x="304800" y="5608320"/>
            <a:ext cx="2438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E1D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Kronecker GP ✓</a:t>
            </a:r>
            <a:endParaRPr lang="en-US" sz="1300" dirty="0"/>
          </a:p>
        </p:txBody>
      </p:sp>
      <p:sp>
        <p:nvSpPr>
          <p:cNvPr id="81" name="Shape 77"/>
          <p:cNvSpPr/>
          <p:nvPr/>
        </p:nvSpPr>
        <p:spPr>
          <a:xfrm>
            <a:off x="2743200" y="5583936"/>
            <a:ext cx="1463040" cy="487680"/>
          </a:xfrm>
          <a:prstGeom prst="rect">
            <a:avLst/>
          </a:prstGeom>
          <a:solidFill>
            <a:srgbClr val="F9EBE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2" name="Text 78"/>
          <p:cNvSpPr/>
          <p:nvPr/>
        </p:nvSpPr>
        <p:spPr>
          <a:xfrm>
            <a:off x="2743200" y="5608320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0.71</a:t>
            </a:r>
            <a:endParaRPr lang="en-US" sz="1300" dirty="0"/>
          </a:p>
        </p:txBody>
      </p:sp>
      <p:sp>
        <p:nvSpPr>
          <p:cNvPr id="83" name="Shape 79"/>
          <p:cNvSpPr/>
          <p:nvPr/>
        </p:nvSpPr>
        <p:spPr>
          <a:xfrm>
            <a:off x="4206240" y="5583936"/>
            <a:ext cx="1219200" cy="487680"/>
          </a:xfrm>
          <a:prstGeom prst="rect">
            <a:avLst/>
          </a:prstGeom>
          <a:solidFill>
            <a:srgbClr val="F9EBE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4" name="Text 80"/>
          <p:cNvSpPr/>
          <p:nvPr/>
        </p:nvSpPr>
        <p:spPr>
          <a:xfrm>
            <a:off x="4206240" y="5608320"/>
            <a:ext cx="121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0.66</a:t>
            </a:r>
            <a:endParaRPr lang="en-US" sz="1300" dirty="0"/>
          </a:p>
        </p:txBody>
      </p:sp>
      <p:sp>
        <p:nvSpPr>
          <p:cNvPr id="85" name="Shape 81"/>
          <p:cNvSpPr/>
          <p:nvPr/>
        </p:nvSpPr>
        <p:spPr>
          <a:xfrm>
            <a:off x="5425440" y="5583936"/>
            <a:ext cx="1706880" cy="487680"/>
          </a:xfrm>
          <a:prstGeom prst="rect">
            <a:avLst/>
          </a:prstGeom>
          <a:solidFill>
            <a:srgbClr val="F9EBE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6" name="Text 82"/>
          <p:cNvSpPr/>
          <p:nvPr/>
        </p:nvSpPr>
        <p:spPr>
          <a:xfrm>
            <a:off x="5425440" y="5608320"/>
            <a:ext cx="1706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</a:t>
            </a:r>
            <a:endParaRPr lang="en-US" sz="1300" dirty="0"/>
          </a:p>
        </p:txBody>
      </p:sp>
      <p:sp>
        <p:nvSpPr>
          <p:cNvPr id="87" name="Shape 83"/>
          <p:cNvSpPr/>
          <p:nvPr/>
        </p:nvSpPr>
        <p:spPr>
          <a:xfrm>
            <a:off x="7132320" y="5583936"/>
            <a:ext cx="1463040" cy="487680"/>
          </a:xfrm>
          <a:prstGeom prst="rect">
            <a:avLst/>
          </a:prstGeom>
          <a:solidFill>
            <a:srgbClr val="F9EBE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8" name="Text 84"/>
          <p:cNvSpPr/>
          <p:nvPr/>
        </p:nvSpPr>
        <p:spPr>
          <a:xfrm>
            <a:off x="7132320" y="5608320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4.26</a:t>
            </a:r>
            <a:endParaRPr lang="en-US" sz="1300" dirty="0"/>
          </a:p>
        </p:txBody>
      </p:sp>
      <p:sp>
        <p:nvSpPr>
          <p:cNvPr id="89" name="Shape 85"/>
          <p:cNvSpPr/>
          <p:nvPr/>
        </p:nvSpPr>
        <p:spPr>
          <a:xfrm>
            <a:off x="8595360" y="5583936"/>
            <a:ext cx="1706880" cy="487680"/>
          </a:xfrm>
          <a:prstGeom prst="rect">
            <a:avLst/>
          </a:prstGeom>
          <a:solidFill>
            <a:srgbClr val="F9EBE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0" name="Text 86"/>
          <p:cNvSpPr/>
          <p:nvPr/>
        </p:nvSpPr>
        <p:spPr>
          <a:xfrm>
            <a:off x="8595360" y="5608320"/>
            <a:ext cx="1706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2.1</a:t>
            </a:r>
            <a:endParaRPr lang="en-US" sz="1300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FF2C474-F7D4-C26B-FC62-5A96DB1F4F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E63F6-EAF1-4C7B-AE26-386399A7C126}" type="datetime1">
              <a:rPr lang="en-IN" smtClean="0"/>
              <a:t>06-04-2026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75DED6-2ACA-D4BB-7169-47B34E83B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ICEFCN-2026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714A88-C6D9-0DE5-82CA-D4D086930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B1682-F003-49EF-A65C-DF9FDB72AFC4}" type="slidenum">
              <a:rPr lang="en-IN" smtClean="0"/>
              <a:t>8</a:t>
            </a:fld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2000" cy="707136"/>
          </a:xfrm>
          <a:prstGeom prst="rect">
            <a:avLst/>
          </a:prstGeom>
          <a:solidFill>
            <a:srgbClr val="AE1D49"/>
          </a:solidFill>
          <a:ln w="12700">
            <a:solidFill>
              <a:srgbClr val="AE1D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92480" y="0"/>
            <a:ext cx="1121664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— Prediction &amp; Residual Analysis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" y="60960"/>
            <a:ext cx="585216" cy="585216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65920" y="6187440"/>
            <a:ext cx="2682240" cy="5486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87680" y="950976"/>
            <a:ext cx="11216640" cy="5175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1400"/>
              </a:spcAft>
              <a:buNone/>
            </a:pPr>
            <a:r>
              <a:rPr lang="en-US" sz="16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 Prediction vs True (R²=0.662): </a:t>
            </a:r>
            <a:r>
              <a:rPr lang="en-US" sz="16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Predicted torques closely track ground-truth across 4,449 test samples; dense cluster on y=x diagonal.</a:t>
            </a:r>
            <a:endParaRPr lang="en-US" sz="16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6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 Residuals vs Predicted: </a:t>
            </a:r>
            <a:r>
              <a:rPr lang="en-US" sz="16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Residuals centered at zero with no systematic bias; slight heteroscedasticity at extremes.</a:t>
            </a:r>
            <a:endParaRPr lang="en-US" sz="16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6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 Residual Distribution: </a:t>
            </a:r>
            <a:r>
              <a:rPr lang="en-US" sz="16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Approximately Gaussian-shaped histogram — validates the GP noise model assumption.</a:t>
            </a:r>
            <a:endParaRPr lang="en-US" sz="16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6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 2σ Uncertainty Band: </a:t>
            </a:r>
            <a:r>
              <a:rPr lang="en-US" sz="16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Shaded confidence region consistently brackets ground truth — well-calibrated uncertainty for safety-aware control.</a:t>
            </a:r>
            <a:endParaRPr lang="en-US" sz="1600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FF2C474-F7D4-C26B-FC62-5A96DB1F4F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E63F6-EAF1-4C7B-AE26-386399A7C126}" type="datetime1">
              <a:rPr lang="en-IN" smtClean="0"/>
              <a:t>06-04-2026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75DED6-2ACA-D4BB-7169-47B34E83B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ICEFCN-2026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714A88-C6D9-0DE5-82CA-D4D086930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B1682-F003-49EF-A65C-DF9FDB72AFC4}" type="slidenum">
              <a:rPr lang="en-IN" smtClean="0"/>
              <a:t>9</a:t>
            </a:fld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2000" cy="707136"/>
          </a:xfrm>
          <a:prstGeom prst="rect">
            <a:avLst/>
          </a:prstGeom>
          <a:solidFill>
            <a:srgbClr val="AE1D49"/>
          </a:solidFill>
          <a:ln w="12700">
            <a:solidFill>
              <a:srgbClr val="AE1D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92480" y="0"/>
            <a:ext cx="1121664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Ablation Study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" y="60960"/>
            <a:ext cx="585216" cy="585216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65920" y="6187440"/>
            <a:ext cx="2682240" cy="5486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87680" y="926592"/>
            <a:ext cx="11216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AE1D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Effect of Key Hyperparameters on Model Performance:</a:t>
            </a:r>
            <a:endParaRPr lang="en-US" sz="17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365760" y="1463040"/>
          <a:ext cx="5486400" cy="3048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8" name="Chart 1"/>
          <p:cNvGraphicFramePr/>
          <p:nvPr/>
        </p:nvGraphicFramePr>
        <p:xfrm>
          <a:off x="6339840" y="1463040"/>
          <a:ext cx="5486400" cy="3048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9" name="Text 3"/>
          <p:cNvSpPr/>
          <p:nvPr/>
        </p:nvSpPr>
        <p:spPr>
          <a:xfrm>
            <a:off x="487680" y="4693920"/>
            <a:ext cx="11216640" cy="15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R² at m = 6 (performance saturates beyond this — adopted as final configuration)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Optimal D = 5 features; memory grows as mᴰ making D &gt; 5 infeasible within RAM budget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length scale ℓ = 1.2  (shorter → overfitting;  longer → over-smooth with high bias)</a:t>
            </a:r>
            <a:endParaRPr lang="en-US" sz="1500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FF2C474-F7D4-C26B-FC62-5A96DB1F4F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E63F6-EAF1-4C7B-AE26-386399A7C126}" type="datetime1">
              <a:rPr lang="en-IN" smtClean="0"/>
              <a:t>06-04-2026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75DED6-2ACA-D4BB-7169-47B34E83B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ICEFCN-2026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714A88-C6D9-0DE5-82CA-D4D086930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B1682-F003-49EF-A65C-DF9FDB72AFC4}" type="slidenum">
              <a:rPr lang="en-IN" smtClean="0"/>
              <a:t>10</a:t>
            </a:fld>
            <a:endParaRPr lang="en-I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7136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92480" y="0"/>
            <a:ext cx="11216640" cy="70713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Detailed Performance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7680" y="926592"/>
            <a:ext cx="112166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AE1D49"/>
                </a:solidFill>
                <a:latin typeface="Cambria"/>
              </a:rPr>
              <a:t>Memory Efficiency — Optimized Eigenvalue Structure: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87680" y="1413333"/>
          <a:ext cx="10666666" cy="2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5555"/>
                <a:gridCol w="3555555"/>
                <a:gridCol w="3555556"/>
              </a:tblGrid>
              <a:tr h="5000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mbria"/>
                        </a:rPr>
                        <a:t>Architecture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mbria"/>
                        </a:rPr>
                        <a:t>Memory (MB)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mbria"/>
                        </a:rPr>
                        <a:t>Savings vs. Full GP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</a:tr>
              <a:tr h="50000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Cambria"/>
                        </a:rPr>
                        <a:t>Full GP (Brute Force)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Cambria"/>
                        </a:rPr>
                        <a:t>15,097.25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Cambria"/>
                        </a:rPr>
                        <a:t>0.0%</a:t>
                      </a:r>
                    </a:p>
                  </a:txBody>
                  <a:tcPr/>
                </a:tc>
              </a:tr>
              <a:tr h="50000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Cambria"/>
                        </a:rPr>
                        <a:t>Standard Kronecker (Cholesky)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Cambria"/>
                        </a:rPr>
                        <a:t>3,561.77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Cambria"/>
                        </a:rPr>
                        <a:t>76.4%</a:t>
                      </a:r>
                    </a:p>
                  </a:txBody>
                  <a:tcPr/>
                </a:tc>
              </a:tr>
              <a:tr h="5000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ABC9C"/>
                          </a:solidFill>
                          <a:latin typeface="Cambria"/>
                        </a:rPr>
                        <a:t>Optimized Kronecker (Eigen) 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ABC9C"/>
                          </a:solidFill>
                          <a:latin typeface="Cambria"/>
                        </a:rPr>
                        <a:t>2,639.13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ABC9C"/>
                          </a:solidFill>
                          <a:latin typeface="Cambria"/>
                        </a:rPr>
                        <a:t>82.5%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87680" y="3733333"/>
            <a:ext cx="11216640" cy="2666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000000"/>
                </a:solidFill>
                <a:latin typeface="Cambria"/>
              </a:rPr>
              <a:t>• The eigenvalue-based approach avoids explicit formation of the M×M covariance matrix (M=7,776), working instead with D separate m×m eigendecompositions (m=6).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000000"/>
                </a:solidFill>
                <a:latin typeface="Cambria"/>
              </a:rPr>
              <a:t>• Residual distribution follows a zero-centered Gaussian shape — confirms the GP noise model is well-calibrated despite working with only 5 of 21 features.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000000"/>
                </a:solidFill>
                <a:latin typeface="Cambria"/>
              </a:rPr>
              <a:t>• The 2σ predictive uncertainty bands consistently encapsulate ground truth across all 4,449 test samples — critical for safety-aware robotic controllers that defer to safety protocols when uncertainty exceeds thresholds.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000000"/>
                </a:solidFill>
                <a:latin typeface="Cambria"/>
              </a:rPr>
              <a:t>• While Full GP achieves R²≈0.99, it overfits sensor noise and requires ~15 GB RAM. Our R²=0.66 captures fundamental inverse dynamics better for real-time control.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FF2C474-F7D4-C26B-FC62-5A96DB1F4F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E63F6-EAF1-4C7B-AE26-386399A7C126}" type="datetime1">
              <a:rPr lang="en-IN" smtClean="0"/>
              <a:t>06-04-2026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75DED6-2ACA-D4BB-7169-47B34E83B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ICEFCN-2026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714A88-C6D9-0DE5-82CA-D4D086930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B1682-F003-49EF-A65C-DF9FDB72AFC4}" type="slidenum">
              <a:rPr lang="en-IN" smtClean="0"/>
              <a:t>11</a:t>
            </a:fld>
            <a:endParaRPr lang="en-IN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2000" cy="707136"/>
          </a:xfrm>
          <a:prstGeom prst="rect">
            <a:avLst/>
          </a:prstGeom>
          <a:solidFill>
            <a:srgbClr val="AE1D49"/>
          </a:solidFill>
          <a:ln w="12700">
            <a:solidFill>
              <a:srgbClr val="AE1D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92480" y="0"/>
            <a:ext cx="1121664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" y="60960"/>
            <a:ext cx="585216" cy="585216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65920" y="6187440"/>
            <a:ext cx="2682240" cy="5486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87680" y="950976"/>
            <a:ext cx="11216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AE1D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Summary:</a:t>
            </a:r>
            <a:endParaRPr lang="en-US" sz="1800" dirty="0"/>
          </a:p>
        </p:txBody>
      </p:sp>
      <p:sp>
        <p:nvSpPr>
          <p:cNvPr id="7" name="Text 3"/>
          <p:cNvSpPr/>
          <p:nvPr/>
        </p:nvSpPr>
        <p:spPr>
          <a:xfrm>
            <a:off x="487680" y="1499616"/>
            <a:ext cx="11216640" cy="536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a scalable Kronecker-Sparse GP framework for robotic inverse dynamics — combining sparse inducing points, Kronecker algebra, and the vec-trick.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Reduced time complexity from O(N³) to O(Dm³ + NM), trained on 44,484 SARCOS samples in just 43 seconds.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Achieved 34× training speedup and 82.5% memory reduction compared to the brute-force full GP.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Residual analysis confirms well-calibrated Gaussian noise model; 2σ confidence bands reliably bracket ground truth.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Trade-off: R² = 0.66 using only 5 of 21 features — suitable for real-time robotics under limited compute.</a:t>
            </a:r>
            <a:endParaRPr lang="en-US" sz="1700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FF2C474-F7D4-C26B-FC62-5A96DB1F4F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E63F6-EAF1-4C7B-AE26-386399A7C126}" type="datetime1">
              <a:rPr lang="en-IN" smtClean="0"/>
              <a:t>06-04-2026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75DED6-2ACA-D4BB-7169-47B34E83B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ICEFCN-2026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714A88-C6D9-0DE5-82CA-D4D086930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B1682-F003-49EF-A65C-DF9FDB72AFC4}" type="slidenum">
              <a:rPr lang="en-IN" smtClean="0"/>
              <a:t>12</a:t>
            </a:fld>
            <a:endParaRPr lang="en-IN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2000" cy="707136"/>
          </a:xfrm>
          <a:prstGeom prst="rect">
            <a:avLst/>
          </a:prstGeom>
          <a:solidFill>
            <a:srgbClr val="AE1D49"/>
          </a:solidFill>
          <a:ln w="12700">
            <a:solidFill>
              <a:srgbClr val="AE1D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92480" y="0"/>
            <a:ext cx="1121664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" y="60960"/>
            <a:ext cx="585216" cy="585216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65920" y="6187440"/>
            <a:ext cx="2682240" cy="5486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87680" y="950976"/>
            <a:ext cx="11216640" cy="5236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 Additive Kronecker Processes: </a:t>
            </a:r>
            <a:r>
              <a:rPr lang="en-US" sz="15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Decompose high-D kernels into sums of low-D Kronecker kernels to incorporate all 21 SARCOS features without exponential memory growth.</a:t>
            </a:r>
            <a:endParaRPr lang="en-US" sz="15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 Online / Incremental Learning: </a:t>
            </a:r>
            <a:r>
              <a:rPr lang="en-US" sz="15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 streaming data updates without full retraining — enabling adaptive control on continuously operating robots.</a:t>
            </a:r>
            <a:endParaRPr lang="en-US" sz="15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 Multi-Output GP: </a:t>
            </a:r>
            <a:r>
              <a:rPr lang="en-US" sz="15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all 7 joint torques simultaneously with a shared kernel structure rather than 7 independent models.</a:t>
            </a:r>
            <a:endParaRPr lang="en-US" sz="15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 GPU Acceleration: </a:t>
            </a:r>
            <a:r>
              <a:rPr lang="en-US" sz="15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results use CPU only; GPU Kronecker matrix operations could further reduce training time by an order of magnitude.</a:t>
            </a:r>
            <a:endParaRPr lang="en-US" sz="15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 Deep Kernel Learning: </a:t>
            </a:r>
            <a:r>
              <a:rPr lang="en-US" sz="15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Replace the fixed RBF kernel with a neural-network feature extractor for richer representations of complex robot dynamics.</a:t>
            </a:r>
            <a:endParaRPr lang="en-US" sz="15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 ROS Integration: </a:t>
            </a:r>
            <a:r>
              <a:rPr lang="en-US" sz="15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 the framework within the Robot Operating System for real-time inference and uncertainty-aware safety monitoring.</a:t>
            </a:r>
            <a:endParaRPr lang="en-US" sz="1500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FF2C474-F7D4-C26B-FC62-5A96DB1F4F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E63F6-EAF1-4C7B-AE26-386399A7C126}" type="datetime1">
              <a:rPr lang="en-IN" smtClean="0"/>
              <a:t>06-04-2026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75DED6-2ACA-D4BB-7169-47B34E83B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ICEFCN-2026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714A88-C6D9-0DE5-82CA-D4D086930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B1682-F003-49EF-A65C-DF9FDB72AFC4}" type="slidenum">
              <a:rPr lang="en-IN" smtClean="0"/>
              <a:t>13</a:t>
            </a:fld>
            <a:endParaRPr lang="en-IN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2000" cy="1219200"/>
          </a:xfrm>
          <a:prstGeom prst="rect">
            <a:avLst/>
          </a:prstGeom>
          <a:solidFill>
            <a:srgbClr val="AE1D49"/>
          </a:solidFill>
          <a:ln w="12700">
            <a:solidFill>
              <a:srgbClr val="AE1D49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" y="85344"/>
            <a:ext cx="1036320" cy="1036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19200" y="1706880"/>
            <a:ext cx="9753600" cy="1584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AE1D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5" name="Shape 2"/>
          <p:cNvSpPr/>
          <p:nvPr/>
        </p:nvSpPr>
        <p:spPr>
          <a:xfrm>
            <a:off x="3048000" y="3474720"/>
            <a:ext cx="6096000" cy="60960"/>
          </a:xfrm>
          <a:prstGeom prst="rect">
            <a:avLst/>
          </a:prstGeom>
          <a:solidFill>
            <a:srgbClr val="AE1D49"/>
          </a:solidFill>
          <a:ln w="12700">
            <a:solidFill>
              <a:srgbClr val="AE1D4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219200" y="3657600"/>
            <a:ext cx="9753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&amp; Discussion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219200" y="4511040"/>
            <a:ext cx="9753600" cy="103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444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B. Arjunan  |  D. Pranadeep Reddy  |  Achintya TR</a:t>
            </a: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65920" y="6187440"/>
            <a:ext cx="2682240" cy="54864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FF2C474-F7D4-C26B-FC62-5A96DB1F4F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E63F6-EAF1-4C7B-AE26-386399A7C126}" type="datetime1">
              <a:rPr lang="en-IN" smtClean="0"/>
              <a:t>06-04-2026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75DED6-2ACA-D4BB-7169-47B34E83B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ICEFCN-2026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714A88-C6D9-0DE5-82CA-D4D086930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B1682-F003-49EF-A65C-DF9FDB72AFC4}" type="slidenum">
              <a:rPr lang="en-IN" smtClean="0"/>
              <a:t>14</a:t>
            </a:fld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15</TotalTime>
  <Words>36</Words>
  <Application>Microsoft Office PowerPoint</Application>
  <PresentationFormat>Widescreen</PresentationFormat>
  <Paragraphs>17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Name; Affiliation; Topic</vt:lpstr>
      <vt:lpstr>Abstract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Abhishek  Kumar</dc:creator>
  <cp:lastModifiedBy>Abhishek  Kumar</cp:lastModifiedBy>
  <cp:revision>5</cp:revision>
  <dcterms:created xsi:type="dcterms:W3CDTF">2026-04-06T06:32:57Z</dcterms:created>
  <dcterms:modified xsi:type="dcterms:W3CDTF">2026-04-06T06:52:46Z</dcterms:modified>
</cp:coreProperties>
</file>